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44952" cy="73152"/>
          </a:xfrm>
          <a:prstGeom prst="rect">
            <a:avLst/>
          </a:prstGeom>
          <a:solidFill>
            <a:srgbClr val="8FA855"/>
          </a:solidFill>
          <a:ln/>
        </p:spPr>
      </p:sp>
      <p:sp>
        <p:nvSpPr>
          <p:cNvPr id="5" name="Shape 3"/>
          <p:cNvSpPr/>
          <p:nvPr/>
        </p:nvSpPr>
        <p:spPr>
          <a:xfrm>
            <a:off x="9134856" y="0"/>
            <a:ext cx="3054096" cy="73152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0" y="23774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AIWIZN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× WAKEMED · CLINICAL PARTNERSHIP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0" y="65379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spc="8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IMAGINATION UNLIMITED</a:t>
            </a:r>
            <a:endParaRPr lang="en-US" sz="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146304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146304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44952" cy="146304"/>
          </a:xfrm>
          <a:prstGeom prst="rect">
            <a:avLst/>
          </a:prstGeom>
          <a:solidFill>
            <a:srgbClr val="8FA855"/>
          </a:solidFill>
          <a:ln/>
        </p:spPr>
      </p:sp>
      <p:sp>
        <p:nvSpPr>
          <p:cNvPr id="5" name="Shape 3"/>
          <p:cNvSpPr/>
          <p:nvPr/>
        </p:nvSpPr>
        <p:spPr>
          <a:xfrm>
            <a:off x="9134856" y="0"/>
            <a:ext cx="3054096" cy="146304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AIWIZN</a:t>
            </a:r>
            <a:endParaRPr lang="en-US" sz="38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PARTNERSHIP PROPOSAL ·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Prepared for WakeMed Health &amp; Hospitals · Clinical Leadership Committee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AIWIZN ×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WakeMed.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AI-driven clinical decision engine for the units where readiness matters most — sepsis, acute MI, stroke. A 12-week founding-customer pilot, co-authored with Dr. Graham Snyder.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897880"/>
            <a:ext cx="4572000" cy="0"/>
          </a:xfrm>
          <a:prstGeom prst="line">
            <a:avLst/>
          </a:prstGeom>
          <a:noFill/>
          <a:ln w="12700">
            <a:solidFill>
              <a:srgbClr val="CF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89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JUNE 2026 · v1.0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spc="6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THOMAS K VAIDHYAN · CEO · AIWIZN / ATEN INC.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FOUNDER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years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to nursing.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K Vaidhyan founded Aten Inc. in 2005 after IT consulting work from 2001. Twenty-plus years pioneering AI/ML agentic, autonomous, virtual immersive training systems. Invited speaker at 25+ events worldwide. Recipient of the Stevie Award. Named a Key Player in the World Serious Game Market Forecast 2017–2023.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0" y="10058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005840"/>
            <a:ext cx="54864" cy="219456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RECOGNITION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0" y="146304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NBME Centennial Semi-Finalist · JP Morgan Chase Innovation Award · Gates Foundation Finalist · MacArthur Foundation Finalist · Stevie Award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33375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3337560"/>
            <a:ext cx="54864" cy="173736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37947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board · BEST NC · Research Triangle High School · STEM education advisor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0" cy="777240"/>
          </a:xfrm>
          <a:prstGeom prst="line">
            <a:avLst/>
          </a:prstGeom>
          <a:noFill/>
          <a:ln w="38100">
            <a:solidFill>
              <a:srgbClr val="2D7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3492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didn't build AIWIZN in response to a market trend. We built it because 21 years of research told us exactly what was missing — and why only immersive, agentic, data-driven simulation closes the gap.”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58064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Thomas K Vaidhyan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DIFFERENTIATORS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 → AIWIZN 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years applied to nursing.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RETENTION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371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13716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B3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751326"/>
            <a:ext cx="1188720" cy="546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WHAT WE READ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2971800"/>
            <a:ext cx="1371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108960"/>
            <a:ext cx="13716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03120" y="3751326"/>
            <a:ext cx="1188720" cy="546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WHAT WE SEE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0" y="2971800"/>
            <a:ext cx="1691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108960"/>
            <a:ext cx="169164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66160" y="3751326"/>
            <a:ext cx="1508760" cy="546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WHAT WE DO · SIM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2606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EVOLUTION OF TRAINING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ATEN vLearn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SIMULUS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Experiential → Immersive scenarios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3319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ATEN Cerebellum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3319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COGNITA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0" y="3319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capture → Behavioral trace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3666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ATEN Arete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3666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PERSONA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0" y="3666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→ Competency vector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4014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ATEN Goldilocks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4014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GOLDILOCKS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84080" y="4014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→ Adaptive difficulty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4361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ATEN iLearn LUMINA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4361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4361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LUMINA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84080" y="4361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→ Cohort intelligence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0" cy="777240"/>
          </a:xfrm>
          <a:prstGeom prst="line">
            <a:avLst/>
          </a:prstGeom>
          <a:noFill/>
          <a:ln w="38100">
            <a:solidFill>
              <a:srgbClr val="2D75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486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didn't build AIWIZN in response to a market trend — 21 years of research told us exactly what was missing.”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" y="594360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Thomas K Vaidhyan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AIWIZN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differentiators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other platform combines.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249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18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21-year Aten lineage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same adaptive-learning architecture awarded by NBME, JP Morgan, Gates, and MacArthur. Not a venture-backed first-year startup.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256032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7249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93592" y="3218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WakeMed-tuned, not generic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93592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D2B, D2N, standing-order vocabulary, scope-of-practice rules all configure to WakeMed protocols rather than a textbook default.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256032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7249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55664" y="3218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assessment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5664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Per-decision telemetry against expert judgment, not checkbox compliance. The engine reads what nurses actually do, not what they remember.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34856" y="256032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7249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17736" y="3218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17736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LUMINA dashboards surface unit-level patterns nursing leadership has never had — risk areas, intervention priorities, growth trajectories.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0" cy="777240"/>
          </a:xfrm>
          <a:prstGeom prst="line">
            <a:avLst/>
          </a:prstGeom>
          <a:noFill/>
          <a:ln w="38100">
            <a:solidFill>
              <a:srgbClr val="2D7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5321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didn't build AIWIZN in response to a market trend. 21 years of research told us exactly what was missing.”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598932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Thomas K Vaidhyan · CEO, AIWIZN / Aten Inc.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RECOGNITION &amp; RIGOR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Awarded by the institutions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set the bar.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AWARDS &amp; RECOGNITION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294436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NBME Centennial Competition · Semi-Finalist · clinical-assessment innovation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355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33558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 Morgan Chase · Jamie Dimon · Innovation Award · enterprise innovation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7673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&amp; Melinda Gates Foundation · Next Generation Learning Challenge · Finalist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178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417880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MacArthur Foundation · Digital Media &amp; Learning Competition · Finalist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590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59028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Stevie Award · Key Player · World Serious Game Forecast 2017–2023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PEDAGOGICAL FRAMEWORKS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AIWIZN is built on Evidence-Centered Design (Mislevy 2003), with stealth assessment and spaced repetition as first-class primitives. The 10-agent architecture integrates: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Benner novice-to-expert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Tanner Clinical Judgment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Kolb experiential learning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Vygotsky Zone of Proximal Development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INACSL simulation standards · Kirkpatrick L1–L4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PRODUCTIVITY ↑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34640" y="548640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B3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926080" y="5989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REDUCTION 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0" y="548640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212080" y="5989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THROUGHPUT 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06640" y="548640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F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498080" y="5989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ATTRITION 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92640" y="548640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5623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20+yr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784080" y="5989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RECORD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Aten Inc. internal deployment data, multiple Fortune 500 customers across pharma, aviation, and clinical training (2005-2025).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PRE-EMPTING THE RESISTANCE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pushback you can predict 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why it strengthens our case.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7033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3703320" cy="548640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249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CME / education chief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644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THEY'LL THINK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3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is going to make our department look obsolete.”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LINE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4361688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AIWIZN is the evidence layer underneath the program, not its replacement. Curriculum, accreditation, and institutional voice stay with the education team. What they gain is per-decision telemetry a slide deck can’t produce — so the chief can finally show the C-suite that the program is working.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37033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606040"/>
            <a:ext cx="3703320" cy="548640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7249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clinical instructors / preceptors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2644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THEY'LL THINK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26280" y="3520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3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“Shadowing-by-attrition has gotten us this far. Why would we change?”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LINE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26280" y="4361688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Preceptors stay. Their scarcest hours stop going to repetitive demos and start going to the moments where their judgment actually matters. The platform handles reps; the human handles wisdom transfer. Their impact-per-shift goes up.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2606040"/>
            <a:ext cx="37033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606040"/>
            <a:ext cx="3703320" cy="548640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7249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'PowerPoint old guard'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2644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THEY'LL THINK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321040" y="3520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3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have a 185-slide PDF. We’ve always done it this way.”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1148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LINE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321040" y="4361688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185 slides stay exactly where they are. AIWIZN replaces the shadowing-by-attrition piece — where time-to-competency actually lives. We measure what changes when nurses get scenario reps in parallel. The institutional artifact is untouched.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109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06440"/>
            <a:ext cx="54864" cy="68580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94360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BOTTOM 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6263640"/>
            <a:ext cx="1083564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Instructors look more effective. Leadership sees real data. The program looks defensible to the C-suite. Turnover bills drop. Resistance becomes an early advocate.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Nurses are trained.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are they prepared?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54864" cy="3291840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332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COMPLIANCE VS. CLINICAL JUDGMENT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3832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Orientation often focuses on policies rather than the clinical reasoning needed under pressure. The slide deck covers procedure. It does not cover the moment the patient deteriorates.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6060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606040"/>
            <a:ext cx="54864" cy="329184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NEW-GRADUATE DEFICIENCIES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33832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nurses frequently lack critical skills in clinical judgment, recognizing patient deterioration, and effective communication under cognitive load.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60604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606040"/>
            <a:ext cx="54864" cy="329184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DEVASTATING COST OF TURNOVER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3063240"/>
            <a:ext cx="3108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at &gt;$61,110 per RN (NSI 2025). Annual hospital turnover losses range $5M–$9M nationally. WakeMed: ~$20M/year conservative.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$61K RN turnover cost — NSI Nursing Solutions 2025 National Health Care Retention Report. ~35% first-year RN attrition — Kovner et al., RN Work Project. $20M WakeMed annual estimate — computed (16.4% × ~2,000-RN workforce assumption).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FINANCIAL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bleed is 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balance sheet.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B3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536442"/>
            <a:ext cx="2560320" cy="669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 PER RN TURNOVER · NSI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26060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74320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20440" y="3536442"/>
            <a:ext cx="2560320" cy="669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NATIONAL RN TURNOVER RATE (2024)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74320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3536442"/>
            <a:ext cx="2560320" cy="669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WAKEMED ESTIMATED ANNUAL COST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89720" y="260604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743200"/>
            <a:ext cx="246888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F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$611K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81160" y="3536442"/>
            <a:ext cx="2286000" cy="669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RETURNED PER 10 RNS RETAINED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109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72000"/>
            <a:ext cx="54864" cy="1508760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0916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332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EXCLUDED HIDDEN COSTS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10835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conservative estimate excludes overtime, agency staffing, compromised care quality, recruitment cycle costs, and the institutional knowledge lost when experienced staff depart. The real number is materially higher.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$61K turnover cost + 16.4% turnover rate — NSI Nursing Solutions 2025 National Health Care Retention Report. WakeMed annual estimate computed from NSI rate × ~2,000-RN workforce assumption.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complexity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hit an inflection point.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88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788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Higher-acuity patients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6440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to increased cognitive and emotional demand on every nurse, every shift.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788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2788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Staffing shortages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326440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Limiting opportunities for organic judgment development — orientation has become the primary structured learning window.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26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 demands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500176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Requiring nurses to have sound judgment to effectively trust or override AI recommendations.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4343400"/>
            <a:ext cx="5440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526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4526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overload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500176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Functioning effectively amidst extensive data is now a critical, measurable clinical competency.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6263640"/>
            <a:ext cx="0" cy="777240"/>
          </a:xfrm>
          <a:prstGeom prst="line">
            <a:avLst/>
          </a:prstGeom>
          <a:noFill/>
          <a:ln w="38100">
            <a:solidFill>
              <a:srgbClr val="2D7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6263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right time to install behavioral assessment is before the next $20M turnover bill — not after.”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67208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Internal framing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WAKEMED'S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done.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CHAMPIONING SIMULATION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Graham Snyder, MD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Director, Center for Innovative Learning, WakeMed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Long-serving clinical champion of simulation-based training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Conceived, financed, and built WakeMed's Patient Simulation Centre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Co-developed AIWIZN's clinical framework — collaboration already in progress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606040"/>
            <a:ext cx="5257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606040"/>
            <a:ext cx="54864" cy="329184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7432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AIWIZN — THE NATURAL NEXT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9834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WakeMed's Simulation Centre trains thousands annually using high-fidelity physical simulators. AIWIZN provides the digital, scalable platform to extend that philosophy into every nurse's orientation — and into annual competencies and residency programs.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126480"/>
            <a:ext cx="0" cy="777240"/>
          </a:xfrm>
          <a:prstGeom prst="line">
            <a:avLst/>
          </a:prstGeom>
          <a:noFill/>
          <a:ln w="38100">
            <a:solidFill>
              <a:srgbClr val="2D7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6126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platform validates what WakeMed built. And WakeMed validates the platform.”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658368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Internal framing — the partnership thesis in one line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four-stage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cycle.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834640"/>
            <a:ext cx="640080" cy="640080"/>
          </a:xfrm>
          <a:prstGeom prst="ellipse">
            <a:avLst/>
          </a:prstGeom>
          <a:solidFill>
            <a:srgbClr val="2D757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852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Assessment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Realistic, branching, high-acuity cases. Every decision captured against expert-grade judgment.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6060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2834640"/>
            <a:ext cx="640080" cy="640080"/>
          </a:xfrm>
          <a:prstGeom prst="ellipse">
            <a:avLst/>
          </a:prstGeom>
          <a:solidFill>
            <a:srgbClr val="D08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2852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02152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Insight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2152" y="4297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COGNITA infers competency from behavior. PERSONA produces an objective seven-domain score.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26060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95744" y="2834640"/>
            <a:ext cx="640080" cy="640080"/>
          </a:xfrm>
          <a:prstGeom prst="ellipse">
            <a:avLst/>
          </a:prstGeom>
          <a:solidFill>
            <a:srgbClr val="2D7570"/>
          </a:solidFill>
          <a:ln/>
        </p:spPr>
      </p:sp>
      <p:sp>
        <p:nvSpPr>
          <p:cNvPr id="17" name="Text 15"/>
          <p:cNvSpPr/>
          <p:nvPr/>
        </p:nvSpPr>
        <p:spPr>
          <a:xfrm>
            <a:off x="7095744" y="2852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72784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Pathways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2784" y="4297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ARIA, the virtual mentor, explains the why behind every decision — preceptor-grade feedback at scale.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0536" y="26060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66376" y="2834640"/>
            <a:ext cx="640080" cy="640080"/>
          </a:xfrm>
          <a:prstGeom prst="ellipse">
            <a:avLst/>
          </a:prstGeom>
          <a:solidFill>
            <a:srgbClr val="D0884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6376" y="2852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43416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 Intelligence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43416" y="4297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LUMINA surfaces where cohorts are strong, where at risk, and where intervention pays back fastest.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AIWIZN transforms nurse orientation through a continuous cycle of assessment, insight, development, and organizational learning.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MEASURE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wisdom domains.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2679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Ambiguity Tolerance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Comfort with uncertainty and incomplete information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60604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60520" y="2679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Therapeutic Communication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rapport and trust with patients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60604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679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Reasoning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Navigating complex moral dilemmas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52560" y="260604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60604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29800" y="2679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Psychological Safety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where staff and patients can speak up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49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37307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Deterioration Recognition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identification of patient decline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365760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365760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749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60520" y="37307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Pharmacological Safety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4114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and effective use of medications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65760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65760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3749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7307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Handover (SBAR)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communication for transfers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052560" y="365760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52560" y="365760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42" name="Text 40"/>
          <p:cNvSpPr/>
          <p:nvPr/>
        </p:nvSpPr>
        <p:spPr>
          <a:xfrm>
            <a:off x="9189720" y="3749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29800" y="37307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Prioritisation / Triage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35440" y="4114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Efficiently managing multiple demands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70916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709160"/>
            <a:ext cx="54864" cy="96012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25880" y="4782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Humility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" y="5166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Self-reflection on bias, respectful engagement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83280" y="470916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3280" y="4709160"/>
            <a:ext cx="54864" cy="96012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52" name="Text 50"/>
          <p:cNvSpPr/>
          <p:nvPr/>
        </p:nvSpPr>
        <p:spPr>
          <a:xfrm>
            <a:off x="352044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D11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60520" y="4782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Equity-Aware Care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566160" y="5166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and just care to all patients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470916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7920" y="4709160"/>
            <a:ext cx="54864" cy="96012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57" name="Text 55"/>
          <p:cNvSpPr/>
          <p:nvPr/>
        </p:nvSpPr>
        <p:spPr>
          <a:xfrm>
            <a:off x="635508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95160" y="4782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Moral Resilience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5166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Navigating moral distress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D11 Equity-Aware Care and D12 Moral Resilience — new domains directly linked to patient satisfaction and staff retention.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TEAM &amp; ADVISORS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credibility,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from the start.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41148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K Vaidhyan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&amp; CEO · AIWIZN / Aten Inc.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 of AIWIZN's multi-agentic learning platform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 ed-tech entrepreneur — research partnerships at NC State, Virginia Tech, Duke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board member · BEST NC · Research Triangle High School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25-yr Aten lineage — NBME · JPMC · Gates · MacArthur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Annie Baby, MA, MBA, MSN, FNP-BC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Deputy Exec Director · Tennessee Population Health Consortium · UT School of Health Sciences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0560" y="278892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RN · Advanced Nurse Practitioner (FNP-BC)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Clinical, operational, and business leadership across health systems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frontline nursing with health-economics, analytics, and value-based care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657600" cy="411480"/>
          </a:xfrm>
          <a:prstGeom prst="rect">
            <a:avLst/>
          </a:prstGeom>
          <a:solidFill>
            <a:srgbClr val="1F555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Graham Snyder, MD, FACEP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Director, WakeMed Center for Innovative Learning · AIWIZN Chief Medical Advisor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0" y="278892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Longest-serving clinical champion of simulation at WakeMed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Co-developed AIWIZN's clinical validation framework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Engineer-turned-EM physician · Assoc. Program Director, UNC Emergency Medicine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Guides SIMULUS physiological fidelity + COGNITA clinical validity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43400"/>
            <a:ext cx="3657600" cy="41148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Arvind Kumar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Director · Head of Digital Health · EisnerAmper LLC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 years across healthcare-technology executive &amp; advisory roles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Former CIO Cincinnati Children's · SVP Xerox Healthcare · Big-4 digital-risk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Adjunct faculty · Harvard School of Public Health · Northeastern · Suffolk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Advises on responsible AI deployment + clinical validation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0" y="43434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4343400"/>
            <a:ext cx="3657600" cy="411480"/>
          </a:xfrm>
          <a:prstGeom prst="rect">
            <a:avLst/>
          </a:prstGeom>
          <a:solidFill>
            <a:srgbClr val="1F5550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Erin T. Carey, MD, MSCR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Chief, Min. Invasive Gyn Surgery · Co-Exec Director, FastTraCS · UNC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80560" y="530352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 surgeon-innovator · co-leads UNC's clinical-innovation accelerator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Procedural rigour paired with translational research and device design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Informs AIWIZN PRAXIS + NARRATIVE work on procedural fidelity</a:t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Clinical-judgement formation from bedside insight to validated practice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46720" y="43434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4343400"/>
            <a:ext cx="3657600" cy="411480"/>
          </a:xfrm>
          <a:prstGeom prst="rect">
            <a:avLst/>
          </a:prstGeom>
          <a:solidFill>
            <a:srgbClr val="7C7A75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0" y="530352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850" dirty="0"/>
          </a:p>
          <a:p>
            <a:pPr marL="342900" indent="-342900">
              <a:buSzPct val="100000"/>
              <a:buChar char="◆"/>
            </a:pPr>
            <a:r>
              <a:rPr lang="en-US" sz="85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Sourced from aiwizn.com/team. Lynn Kenyon (Duke) held pending Duke / WakeMed engagement scoping.  added as Clinical Advisor for the Patient Care Onboarding engine. Lynn Kenyon (Duke) held for the next revision pending Duke / WakeMed engagement scoping.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HEADLINE METRIC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Nurse Wisdom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— NWI.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number that tells a nursing director: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nurse is ready for a high-acuity unit.”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First-choice scoring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NWI is computed from each nurse's first decision per node — no credit for back-tracked corrections. Measures real-time judgment, not test-taking strategy.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37033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3592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11-domain breakdown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93592" y="4800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Decomposes into the 11 wisdom domains so leadership sees not just an aggregate score, but exactly where the cohort is strong and where it is at risk.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37033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55664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PCRI companion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5664" y="4800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Care Readiness Index pairs with NWI for non-RN care staff. Same scoring logic; CNA/PCT/PCA scope of practice.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37033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7736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17736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Trackable over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17736" y="4800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session, retest, and refresher feeds the same metric. CONTINUUM follows the nurse from orientation through career peak.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NWI shown live on demo.aiwizn.com. Lynn Kenyon, BSN RN at Duke, completed the cardiac-stroke-sepsis set on 2026-06-16 (NWI 77%) — our first external clinical leader to clear it. Engine telemetry captured via prototype_sessions table.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existing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short.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2743200" cy="54864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LMS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HealthStream · Relias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in compliance and annual competencies. Significant gaps in clinical judgment, situational awareness, and emotional resilience.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6060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2606040"/>
            <a:ext cx="2743200" cy="54864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Companies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3172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Laerdal · CAE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93592" y="3566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at crisis simulations and procedural training. Lack longitudinal tracking, PTSD recovery support, and institutional learning.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26060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606040"/>
            <a:ext cx="2743200" cy="54864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5664" y="3172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QGenda · LeanTaaS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55664" y="3566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on staffing, scheduling, and retention metrics. Miss clinical wisdom, behavioral growth, and decision quality.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26060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856" y="2606040"/>
            <a:ext cx="2743200" cy="54864"/>
          </a:xfrm>
          <a:prstGeom prst="rect">
            <a:avLst/>
          </a:prstGeom>
          <a:solidFill>
            <a:srgbClr val="9B3329"/>
          </a:solidFill>
          <a:ln/>
        </p:spPr>
      </p:sp>
      <p:sp>
        <p:nvSpPr>
          <p:cNvPr id="22" name="Text 20"/>
          <p:cNvSpPr/>
          <p:nvPr/>
        </p:nvSpPr>
        <p:spPr>
          <a:xfrm>
            <a:off x="9317736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Apps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17736" y="3172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7C7A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Headspace · Lyra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17736" y="35661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therapy access and stress management. Fail to integrate with learning or build professional resilience.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platform offers the comprehensive solution AIWIZN delivers.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12-week transformation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nurse orientation.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4600"/>
            <a:ext cx="54864" cy="100584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weeks · 20–30 nurses at WakeMed CIL · web-based · clinical oversight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57600"/>
            <a:ext cx="54864" cy="100584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NURSE ASSESSMENT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75-minute baseline · 8-week follow-up · 6-month retention check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212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00600"/>
            <a:ext cx="54864" cy="1005840"/>
          </a:xfrm>
          <a:prstGeom prst="rect">
            <a:avLst/>
          </a:prstGeom>
          <a:solidFill>
            <a:srgbClr val="2D757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37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SCENARIOS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5257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STEMI · Stroke tPA · Sepsis bundle · Authority Challenge · Language Access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75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WAKEMED RECEIVES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5623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Nurse Acumen profile per cohort member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analytics dashboard (LUMINA) — strengths, risk, intervention priorities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Nurse Wisdom Index + PCRI data tied to WakeMed onboarding outcomes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debrief with the AIWIZN team and Dr. Snyder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Co-authorship on resulting peer-reviewed publication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to reduce annual turnover cost from $20M baseline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Customer engagement — $50K milestone-billed: $5K execution · $15K day 30 · $20K day 90 · $10K month 12. List Pro-tier license is $250K/yr; Founding-Customer rate reflects research-collaboration scope.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2D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this together.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645920" y="3246120"/>
            <a:ext cx="8869680" cy="0"/>
          </a:xfrm>
          <a:prstGeom prst="line">
            <a:avLst/>
          </a:prstGeom>
          <a:noFill/>
          <a:ln w="25400">
            <a:solidFill>
              <a:srgbClr val="CFC8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3081528"/>
            <a:ext cx="329184" cy="329184"/>
          </a:xfrm>
          <a:prstGeom prst="ellipse">
            <a:avLst/>
          </a:prstGeom>
          <a:solidFill>
            <a:srgbClr val="D08840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Week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pilot interest &amp; identify target orientation cohort/liaison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98748" y="3081528"/>
            <a:ext cx="329184" cy="329184"/>
          </a:xfrm>
          <a:prstGeom prst="ellipse">
            <a:avLst/>
          </a:prstGeom>
          <a:solidFill>
            <a:srgbClr val="2D7570"/>
          </a:solidFill>
          <a:ln/>
        </p:spPr>
      </p:sp>
      <p:sp>
        <p:nvSpPr>
          <p:cNvPr id="11" name="Text 9"/>
          <p:cNvSpPr/>
          <p:nvPr/>
        </p:nvSpPr>
        <p:spPr>
          <a:xfrm>
            <a:off x="369874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6606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2 Weeks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66060" y="3611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clinical partnership agreement · Dr. Snyder and AIWIZN team brief WakeMed nursing education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16168" y="3081528"/>
            <a:ext cx="329184" cy="329184"/>
          </a:xfrm>
          <a:prstGeom prst="ellipse">
            <a:avLst/>
          </a:prstGeom>
          <a:solidFill>
            <a:srgbClr val="2D7570"/>
          </a:solidFill>
          <a:ln/>
        </p:spPr>
      </p:sp>
      <p:sp>
        <p:nvSpPr>
          <p:cNvPr id="15" name="Text 13"/>
          <p:cNvSpPr/>
          <p:nvPr/>
        </p:nvSpPr>
        <p:spPr>
          <a:xfrm>
            <a:off x="591616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3611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configuration · LUMINA dashboard orientation · IT/network verification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3588" y="3081528"/>
            <a:ext cx="329184" cy="329184"/>
          </a:xfrm>
          <a:prstGeom prst="ellipse">
            <a:avLst/>
          </a:prstGeom>
          <a:solidFill>
            <a:srgbClr val="2D7570"/>
          </a:solidFill>
          <a:ln/>
        </p:spPr>
      </p:sp>
      <p:sp>
        <p:nvSpPr>
          <p:cNvPr id="19" name="Text 17"/>
          <p:cNvSpPr/>
          <p:nvPr/>
        </p:nvSpPr>
        <p:spPr>
          <a:xfrm>
            <a:off x="813358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090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00900" y="3611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launch — first cohort assessment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351008" y="3081528"/>
            <a:ext cx="329184" cy="329184"/>
          </a:xfrm>
          <a:prstGeom prst="ellipse">
            <a:avLst/>
          </a:prstGeom>
          <a:solidFill>
            <a:srgbClr val="2D7570"/>
          </a:solidFill>
          <a:ln/>
        </p:spPr>
      </p:sp>
      <p:sp>
        <p:nvSpPr>
          <p:cNvPr id="23" name="Text 21"/>
          <p:cNvSpPr/>
          <p:nvPr/>
        </p:nvSpPr>
        <p:spPr>
          <a:xfrm>
            <a:off x="1035100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0" y="3611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pilot debrief — findings, reports, Phase 2 proposal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109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029200"/>
            <a:ext cx="54864" cy="1280160"/>
          </a:xfrm>
          <a:prstGeom prst="rect">
            <a:avLst/>
          </a:prstGeom>
          <a:solidFill>
            <a:srgbClr val="D0884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16636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08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 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548640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K Vaidhyan · Founder &amp; CEO · AIWIZN / Aten Inc. · thomas@ateninc.com · +1.919.341.8234 · demo.aiwizn.com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AIWIZN / Aten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AIWIZN × WakeMed — Clinical Partnership Proposal</dc:title>
  <dc:subject>Clinical Partnership Proposal · WakeMed Health &amp; Hospitals</dc:subject>
  <dc:creator>Thomas K Vaidhyan · AIWIZN / Aten Inc.</dc:creator>
  <cp:lastModifiedBy>Thomas K Vaidhyan · AIWIZN / Aten Inc.</cp:lastModifiedBy>
  <cp:revision>1</cp:revision>
  <dcterms:created xsi:type="dcterms:W3CDTF">2026-06-21T19:13:50Z</dcterms:created>
  <dcterms:modified xsi:type="dcterms:W3CDTF">2026-06-21T19:13:50Z</dcterms:modified>
</cp:coreProperties>
</file>